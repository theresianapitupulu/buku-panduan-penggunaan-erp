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FAKULTAS EKONOMIKA DAN BISNIS • UNIVERSITAS DIPONEGORO</a:t>
            </a:r>
          </a:p>
          <a:p>
            <a:pPr>
              <a:spcBef>
                <a:spcPts val="1400"/>
              </a:spcBef>
              <a:defRPr sz="3800" b="1">
                <a:solidFill>
                  <a:srgbClr val="FFFFFF"/>
                </a:solidFill>
                <a:latin typeface="Calibri"/>
              </a:defRPr>
            </a:pPr>
            <a:r>
              <a:t>PANDUAN PRAKTIKUM SISTEM ERP</a:t>
            </a:r>
          </a:p>
          <a:p>
            <a:pPr>
              <a:defRPr sz="2200">
                <a:solidFill>
                  <a:srgbClr val="D2E1F5"/>
                </a:solidFill>
                <a:latin typeface="Calibri"/>
              </a:defRPr>
            </a:pPr>
            <a:r>
              <a:t>Pembelajaran Akuntansi Berbasis Industri Manufaktur (ERPNext v16)</a:t>
            </a:r>
          </a:p>
          <a:p>
            <a:pPr>
              <a:spcBef>
                <a:spcPts val="2800"/>
              </a:spcBef>
              <a:defRPr sz="1300" i="1">
                <a:solidFill>
                  <a:srgbClr val="C8C8C8"/>
                </a:solidFill>
              </a:defRPr>
            </a:pPr>
            <a:r>
              <a:t>Simulasi Alur Terintegrasi: Pengadaan Bahan Baku • Produksi Manufaktur • Penjualan • Pengakuan HPP &amp; Laba Rugi</a:t>
            </a:r>
            <a:br/>
            <a:r>
              <a:t>Studi Kasus: PT Industri Mebel Theresia (Produksi Meja Kayu Minimalis)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Tujuan Pembelajaran &amp; Kompetensi Mahasiswa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980B9"/>
                </a:solidFill>
                <a:latin typeface="Calibri"/>
              </a:defRPr>
            </a:pPr>
            <a:r>
              <a:t>1. Pemahaman Konseptual ERP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Memahami konsep integrasi database terpusat antar fungsi bisnis.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Menganalisis otomatisasi alur informasi dari hulu ke hilir.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Menghubungkan transaksi logistik dengan pencatatan jurnal akuntansi.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Mengidentifikasi prinsip Single Source of Truth dalam sistem ERP.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  <a:latin typeface="Calibri"/>
              </a:defRPr>
            </a:pPr>
            <a:r>
              <a:t>2. Keterampilan Teknis ERPNext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Mampu membuat Master Data (Item, BOM, Supplier, Customer).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Mengeksekusi siklus Pembelian (PO -&gt; Purchase Receipt -&gt; Invoice).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Mengeksekusi siklus Produksi (Work Order -&gt; Material Transfer -&gt; Mfg).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Mengeksekusi siklus Penjualan (Sales Order -&gt; Delivery Note -&gt; Invoice).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D97706"/>
                </a:solidFill>
                <a:latin typeface="Calibri"/>
              </a:defRPr>
            </a:pPr>
            <a:r>
              <a:t>3. Analisis Akuntansi Manufaktur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Menganalisis mutasi persediaan di 3 zona gudang (Stores, WIP, FG).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Memahami kalkulasi otomatis Harga Pokok Produksi (HPP/BOM).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Memverifikasi saldo buku besar persediaan (Stock Ledger vs GL).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Membaca dampak transaksi pada Laporan Laba Rugi &amp; Neraca.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Profil Kasus: PT Industri Mebel Theresia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Ringkasan Profil Perusahaan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Nama Entitas: PT Industri Mebel Theresia (Singkatan: PA / Prima Agatha)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Bidang Usaha: Manufaktur &amp; Fabrikasi Furniture Kayu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Produk Unggulan: Meja Kayu Minimalis (FG-MEJA-01)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Harga Jual Standar: Rp 850.000 / unit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Model Persediaan: Perpetual Inventory System (Real-time GL Integration)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Metode Penilaian: Moving Average / FIFO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Mata Uang &amp; Pajak: IDR (Rupiah Indonesia) - Standar Akuntansi Indonesia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5F7FA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Pembagian Peran Mahasiswa dalam Praktikum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Bagian Pembelian (Purchasing): Mengelola Supplier, menerbitkan PO, memonitor tagihan masuk.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Bagian Gudang (Warehouse): Menerima barang fisik (PR), mutasi bahan ke pabrik, pengiriman (DN).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Bagian PPIC / Produksi: Menyusun BOM, menjadwalkan Work Order, mengonfirmasi hasil jadi.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Bagian Penjualan (Sales): Mengelola Customer, input Sales Order, koordinasi pengiriman.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Bagian Akuntansi (Finance): Memverifikasi Stock Ledger, menerbitkan Invoice, menganalisis Laba Rugi.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Arsitektur Master Data &amp; Bill of Materials (BOM)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Master Barang (Item Master)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1. RM-KAYU-01: Papan Kayu Jati 200x50cm (Lembar) - Rp 150.000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2. RM-KAKI-01: Kaki Meja Besi Hollow (Pcs) - Rp 40.000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3. RM-BAUT-01: Set Baut &amp; Sekrup Meja (Set) - Rp 15.000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4. RM-CAT-01: Plitur / Cat Kayu Jati 1L (Kaleng) - Rp 60.000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5. FG-MEJA-01: Meja Kayu Minimalis (Unit) - Harga Jual Rp 850.000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Mitra Bisnis (Partners):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• Supplier 1: CV Kayu Jati Utama (Bahan Baku Kayu &amp; Cat)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• Supplier 2: PT Besi &amp; Hardware Nusantara (Kaki Besi &amp; Baut)</a:t>
            </a:r>
          </a:p>
          <a:p>
            <a:pPr>
              <a:spcBef>
                <a:spcPts val="400"/>
              </a:spcBef>
              <a:defRPr sz="1150">
                <a:solidFill>
                  <a:srgbClr val="212529"/>
                </a:solidFill>
              </a:defRPr>
            </a:pPr>
            <a:r>
              <a:t>• Customer: PT Interior Rumah Indah (Pembeli Komersial)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D97706"/>
                </a:solidFill>
              </a:defRPr>
            </a:pPr>
            <a:r>
              <a:t>Resep Produksi (BOM: BOM-FG-MEJA-01-001)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Formula 1 Unit FG-MEJA-01: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  • 2 Lembar RM-KAYU-01 @ Rp 150.000 = Rp 300.000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  • 4 Pcs RM-KAKI-01 @ Rp 40.000 = Rp 160.000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  • 1 Set RM-BAUT-01 @ Rp 15.000 = Rp 15.000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  • 0,5 Kaleng RM-CAT-01 @ Rp 60.000 = Rp 30.000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--------------------------------------------------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Total Biaya Bahan Baku (Raw Material Cost): Rp 505.000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Biaya Tenaga Kerja / Workstation: Rp 55.000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Estimasi Total HPP / Unit: Rp 560.000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Harga Jual Pasar: Rp 850.000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Margin Kotor per Unit: Rp 290.000 (~34.1%)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Siklus Pengadaan Bahan Baku (Procurement Cycle)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Langkah 1: Purchase Order (PO)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Dokumen komitmen pembelian kepada pemasok.</a:t>
            </a:r>
            <a:br/>
            <a:r>
              <a:t>Tidak menimbulkan mutasi fisik stok dan tidak ada jurnal akuntansi.</a:t>
            </a:r>
            <a:br/>
            <a:r>
              <a:t>Total Pengadaan: Rp 5.050.000.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Langkah 2: Purchase Receipt (PR)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Penerimaan fisik barang di Gudang Stores - PA.</a:t>
            </a:r>
            <a:br/>
            <a:r>
              <a:t>• Stok Fisik Bertambah di Gudang Stores.</a:t>
            </a:r>
            <a:br/>
            <a:r>
              <a:t>• Jurnal Otomatis:</a:t>
            </a:r>
            <a:br/>
            <a:r>
              <a:t>   (D) Persediaan Bahan Baku (Stock In Hand)</a:t>
            </a:r>
            <a:br/>
            <a:r>
              <a:t>   (K) Stock Received But Not Billed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Langkah 3: Purchase Invoice (PI)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Pengakuan utang usaha atas dasar tagihan vendor.</a:t>
            </a:r>
            <a:br/>
            <a:r>
              <a:t>• Tidak mempengaruhi kuantitas stok fisik.</a:t>
            </a:r>
            <a:br/>
            <a:r>
              <a:t>• Jurnal Otomatis:</a:t>
            </a:r>
            <a:br/>
            <a:r>
              <a:t>   (D) Stock Received But Not Billed</a:t>
            </a:r>
            <a:br/>
            <a:r>
              <a:t>   (K) Utang Usaha (Accounts Payable)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Siklus Produksi Manufaktur (Manufacturing Cycle)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Langkah 1: Work Order (WO)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Perintah kerja resmi memproduksi 5 Unit FG-MEJA-01.</a:t>
            </a:r>
            <a:br/>
            <a:r>
              <a:t>Sistem menarik otomatis kebutuhan bahan baku dari BOM:</a:t>
            </a:r>
            <a:br/>
            <a:r>
              <a:t>• 10 Lembar Kayu, 20 Kaki Besi, 5 Set Baut, 2.5 Kaleng Cat.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Langkah 2: Material Transfer for Mfg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Dokumen Stock Entry memindahkan bahan baku dari Gudang Stores ke Gudang Pabrik (Work In Progress / WIP).</a:t>
            </a:r>
            <a:br/>
            <a:r>
              <a:t>• Stok Stores berkurang, Stok WIP bertambah.</a:t>
            </a:r>
            <a:br/>
            <a:r>
              <a:t>• Nilai aset total tetap konstan, lokasi berpindah.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Langkah 3: Manufacture Entry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Penyelesaian proses perakitan meja di Workstation.</a:t>
            </a:r>
            <a:br/>
            <a:r>
              <a:t>• Mengonsumsi habis bahan baku di Gudang WIP.</a:t>
            </a:r>
            <a:br/>
            <a:r>
              <a:t>• Menerbitkan 5 Unit FG-MEJA-01 ke Gudang Finished Goods.</a:t>
            </a:r>
            <a:br/>
            <a:r>
              <a:t>• Jurnal: (D) Persediaan Barang Jadi, (K) Persediaan WIP.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Siklus Penjualan &amp; Distribusi (Order to Cash)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6A34A"/>
                </a:solidFill>
              </a:defRPr>
            </a:pPr>
            <a:r>
              <a:t>Langkah 1: Sales Order (SO)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Penerimaan pesanan pembelian dari PT Interior Rumah Indah untuk 3 Unit Meja @ Rp 850.000.</a:t>
            </a:r>
            <a:br/>
            <a:r>
              <a:t>Total Pesanan: Rp 2.550.000. Belum ada mutasi stok dan belum ada jurnal keuangan.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6A34A"/>
                </a:solidFill>
              </a:defRPr>
            </a:pPr>
            <a:r>
              <a:t>Langkah 2: Delivery Note (DN)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Pengiriman fisik 3 Unit meja dari Gudang Finished Goods ke alamat pelanggan.</a:t>
            </a:r>
            <a:br/>
            <a:r>
              <a:t>• Stok Finished Goods berkurang dari 5 menjadi 2 Unit.</a:t>
            </a:r>
            <a:br/>
            <a:r>
              <a:t>• Jurnal Otomatis Pengakuan Beban:</a:t>
            </a:r>
            <a:br/>
            <a:r>
              <a:t>   (D) Harga Pokok Penjualan / COGS</a:t>
            </a:r>
            <a:br/>
            <a:r>
              <a:t>   (K) Persediaan Barang Jadi (Finished Goods)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6A34A"/>
                </a:solidFill>
              </a:defRPr>
            </a:pPr>
            <a:r>
              <a:t>Langkah 3: Sales Invoice (SI)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Penerbitan faktur tagihan piutang kepada pelanggan.</a:t>
            </a:r>
            <a:br/>
            <a:r>
              <a:t>• Jurnal Otomatis Pengakuan Pendapatan:</a:t>
            </a:r>
            <a:br/>
            <a:r>
              <a:t>   (D) Piutang Usaha (Accounts Receivable) Rp 2.550.000</a:t>
            </a:r>
            <a:br/>
            <a:r>
              <a:t>   (K) Pendapatan Penjualan (Sales Income) Rp 2.550.000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Arsitektur 3 Zona Gudang &amp; Perubahan Saldo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980B9"/>
                </a:solidFill>
              </a:defRPr>
            </a:pPr>
            <a:r>
              <a:t>ZONA 1: GUDANG STORES</a:t>
            </a:r>
          </a:p>
          <a:p>
            <a:pPr>
              <a:defRPr i="1" sz="1000">
                <a:solidFill>
                  <a:srgbClr val="646464"/>
                </a:solidFill>
              </a:defRPr>
            </a:pPr>
            <a:r>
              <a:t>Tempat Penyimpanan Bahan Baku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Inbound: Menerima pembelian dari vendor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Beli Awal: 20 Kayu, 40 Kaki, 10 Baut, 5 Cat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Dipakai Produksi: 10 Kayu, 20 Kaki, 5 Baut, 2.5 Cat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SALDO AKHIR: 10 Kayu, 20 Kaki, 5 Baut, 2.5 Cat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ZONA 2: GUDANG WIP</a:t>
            </a:r>
          </a:p>
          <a:p>
            <a:pPr>
              <a:defRPr i="1" sz="1000">
                <a:solidFill>
                  <a:srgbClr val="646464"/>
                </a:solidFill>
              </a:defRPr>
            </a:pPr>
            <a:r>
              <a:t>Tempat Pengolahan / Pabrik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Transfer: Menerima bahan dari Stores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Diproses di Workstation Potong &amp; Rakit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Dikonversi penuh menjadi produk jadi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SALDO AKHIR: 0 (Semua bahan habis dirakit)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6A34A"/>
                </a:solidFill>
              </a:defRPr>
            </a:pPr>
            <a:r>
              <a:t>ZONA 3: GUDANG FINISHED GOODS</a:t>
            </a:r>
          </a:p>
          <a:p>
            <a:pPr>
              <a:defRPr i="1" sz="1000">
                <a:solidFill>
                  <a:srgbClr val="646464"/>
                </a:solidFill>
              </a:defRPr>
            </a:pPr>
            <a:r>
              <a:t>Tempat Penyimpanan Produk Jadi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Output Produksi: Menerima 5 Unit Meja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Outbound: Mengirim 3 Unit ke Customer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Surat Jalan: Delivery Note MAT-DN-2026-00001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</a:defRPr>
            </a:pPr>
            <a:r>
              <a:t>• SALDO AKHIR: 2 Unit Meja Kayu Siap Jual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Integrasi Jurnal Akuntansi &amp; Laporan Keuangan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Rangkuman Jurnal Otomatis ERPNext (General Ledger Entry)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1. Penerimaan Barang (Purchase Receipt):</a:t>
            </a:r>
            <a:br/>
            <a:r>
              <a:t>   Debet: Persediaan Bahan Baku (Stores) Rp 5.050.000  |  Kredit: Stock Received But Not Billed Rp 5.050.000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2. Penagihan Vendor (Purchase Invoice):</a:t>
            </a:r>
            <a:br/>
            <a:r>
              <a:t>   Debet: Stock Received But Not Billed Rp 5.050.000  |  Kredit: Utang Usaha (Accounts Payable) Rp 5.050.000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3. Selesai Produksi (Manufacture Entry):</a:t>
            </a:r>
            <a:br/>
            <a:r>
              <a:t>   Debet: Persediaan Barang Jadi (FG) Rp 2.525.000  |  Kredit: Persediaan Bahan Baku (WIP) Rp 2.525.000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4. Pengiriman Barang (Delivery Note):</a:t>
            </a:r>
            <a:br/>
            <a:r>
              <a:t>   Debet: Harga Pokok Penjualan (HPP / COGS) Rp 1.515.000  |  Kredit: Persediaan Barang Jadi Rp 1.515.000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5. Penagihan Pelanggan (Sales Invoice):</a:t>
            </a:r>
            <a:br/>
            <a:r>
              <a:t>   Debet: Piutang Usaha (Accounts Receivable) Rp 2.550.000  |  Kredit: Pendapatan Penjualan Rp 2.550.000</a:t>
            </a:r>
          </a:p>
          <a:p>
            <a:pPr>
              <a:spcBef>
                <a:spcPts val="300"/>
              </a:spcBef>
            </a:pPr>
          </a:p>
          <a:p>
            <a:pPr>
              <a:spcBef>
                <a:spcPts val="300"/>
              </a:spcBef>
              <a:defRPr b="1" sz="1200">
                <a:solidFill>
                  <a:srgbClr val="1B365D"/>
                </a:solidFill>
              </a:defRPr>
            </a:pPr>
            <a:r>
              <a:t>Dampak pada Laporan Keuangan Real-Time: </a:t>
            </a:r>
          </a:p>
          <a:p>
            <a:pPr>
              <a:spcBef>
                <a:spcPts val="300"/>
              </a:spcBef>
              <a:defRPr b="1" sz="1200">
                <a:solidFill>
                  <a:srgbClr val="1B365D"/>
                </a:solidFill>
              </a:defRPr>
            </a:pPr>
            <a:r>
              <a:t>• Neraca (Balance Sheet): Aset Persediaan bertambah, Piutang Usaha bertambah Rp 2.550.000, Utang Usaha bertambah Rp 5.050.000.</a:t>
            </a:r>
          </a:p>
          <a:p>
            <a:pPr>
              <a:spcBef>
                <a:spcPts val="300"/>
              </a:spcBef>
              <a:defRPr b="1" sz="1200">
                <a:solidFill>
                  <a:srgbClr val="1B365D"/>
                </a:solidFill>
              </a:defRPr>
            </a:pPr>
            <a:r>
              <a:t>• Laba Rugi (Profit and Loss): Pendapatan Rp 2.550.000 - HPP Rp 1.515.000 = Laba Kotor Rp 1.035.000.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t>BUKU PANDUAN ERP - FEB UNIVERSITAS DIPONEGORO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Petunjuk Evaluasi &amp; Verifikasi Transaksi Mahasiswa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Modul Praktikum Laboratorium Akuntansi | ERPNext v16 Manufaktur | FEB Undip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solidFill>
            <a:srgbClr val="F5F7FA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Cara Mengecek Kebenaran Hasil Transaksi di ERPNext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1. Buka Stock Balance (Laporan Posisi Stok): Akses via Search Bar 'Stock Balance'. Pastikan stok Stores: Kayu (10), Kaki (20), Baut (5), Cat (2.5), WIP: 0, Finished Goods: 2 Unit.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2. Buka Stock Ledger (Buku Besar Mutasi): Periksa urutan transaksi kronologis: Penerimaan Masuk (+), Transfer ke WIP, Produksi Jadi (+), Pengiriman Keluar (-).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3. Buka General Ledger (Buku Besar Akuntansi): Pastikan semua akun persediaan, utang, piutang, dan pendapatan tercatat berpasangan (balance).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4. Buka Profit and Loss Statement: Pastikan Pendapatan tercatat Rp 2.550.000 dan HPP tercatat otomatis tanpa perlu input manual.</a:t>
            </a:r>
          </a:p>
          <a:p>
            <a:pPr>
              <a:spcBef>
                <a:spcPts val="800"/>
              </a:spcBef>
              <a:defRPr sz="1150">
                <a:solidFill>
                  <a:srgbClr val="212529"/>
                </a:solidFill>
              </a:defRPr>
            </a:pPr>
            <a:r>
              <a:t>• 5. Buka Work Order Status: Pastikan status Work Order 'MFG-WO-2026-00001' bernilai 'Completed' dengan 100% Manufactured Qty.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